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696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953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223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305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77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7739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75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11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421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41840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3962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492217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5339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594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092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FB38F6-BEA0-4A1E-82D4-03429216F3A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3196A488-AB70-497C-B91F-C082A7BC6D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034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6CAB3-A2A8-5E36-B71B-428396CE32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31720" y="2322576"/>
            <a:ext cx="8121332" cy="1576981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Display" panose="020B0004020202020204" pitchFamily="34" charset="0"/>
              </a:rPr>
              <a:t>Heart Disease Prediction Using Logistic Regression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7C00B6-FA44-9011-0FE0-71D0EDA36D08}"/>
              </a:ext>
            </a:extLst>
          </p:cNvPr>
          <p:cNvSpPr txBox="1"/>
          <p:nvPr/>
        </p:nvSpPr>
        <p:spPr>
          <a:xfrm>
            <a:off x="6473952" y="4123944"/>
            <a:ext cx="45171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Rounded MT Bold" panose="020F0704030504030204" pitchFamily="34" charset="0"/>
              </a:rPr>
              <a:t>Project By - </a:t>
            </a:r>
            <a:r>
              <a:rPr lang="en-US" sz="2000" b="1" dirty="0" err="1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Rounded MT Bold" panose="020F0704030504030204" pitchFamily="34" charset="0"/>
              </a:rPr>
              <a:t>Asish</a:t>
            </a:r>
            <a:r>
              <a:rPr lang="en-US" sz="20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Rounded MT Bold" panose="020F0704030504030204" pitchFamily="34" charset="0"/>
              </a:rPr>
              <a:t> Bose</a:t>
            </a:r>
          </a:p>
        </p:txBody>
      </p:sp>
    </p:spTree>
    <p:extLst>
      <p:ext uri="{BB962C8B-B14F-4D97-AF65-F5344CB8AC3E}">
        <p14:creationId xmlns:p14="http://schemas.microsoft.com/office/powerpoint/2010/main" val="287310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CEED663-E07B-BC87-13B2-F13C878EB710}"/>
              </a:ext>
            </a:extLst>
          </p:cNvPr>
          <p:cNvSpPr txBox="1"/>
          <p:nvPr/>
        </p:nvSpPr>
        <p:spPr>
          <a:xfrm>
            <a:off x="3250692" y="562689"/>
            <a:ext cx="5690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Project Problem Statement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7086AA-C1D2-B56D-7966-ADEDAFCA48A2}"/>
              </a:ext>
            </a:extLst>
          </p:cNvPr>
          <p:cNvSpPr txBox="1"/>
          <p:nvPr/>
        </p:nvSpPr>
        <p:spPr>
          <a:xfrm>
            <a:off x="2086356" y="1316736"/>
            <a:ext cx="80192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 Narrow" panose="020B0004020202020204" pitchFamily="34" charset="0"/>
              </a:rPr>
              <a:t>Heart disease is one of the leading causes of death globally. Early detection can significantly improve treatment outcomes.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D6C2A01-D123-5FD7-B169-6F29BF0869DD}"/>
              </a:ext>
            </a:extLst>
          </p:cNvPr>
          <p:cNvGrpSpPr/>
          <p:nvPr/>
        </p:nvGrpSpPr>
        <p:grpSpPr>
          <a:xfrm>
            <a:off x="3110484" y="2134350"/>
            <a:ext cx="6856095" cy="2366480"/>
            <a:chOff x="3412236" y="2374201"/>
            <a:chExt cx="6856095" cy="236648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5EFE852-FF65-1C2B-18AB-4386716F891C}"/>
                </a:ext>
              </a:extLst>
            </p:cNvPr>
            <p:cNvSpPr txBox="1"/>
            <p:nvPr/>
          </p:nvSpPr>
          <p:spPr>
            <a:xfrm>
              <a:off x="3929634" y="2770912"/>
              <a:ext cx="61493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q"/>
              </a:pPr>
              <a:r>
                <a:rPr lang="en-US" dirty="0">
                  <a:latin typeface="Aptos Narrow" panose="020B0004020202020204" pitchFamily="34" charset="0"/>
                </a:rPr>
                <a:t>To build a </a:t>
              </a:r>
              <a:r>
                <a:rPr lang="en-US" b="1" dirty="0">
                  <a:latin typeface="Aptos Narrow" panose="020B0004020202020204" pitchFamily="34" charset="0"/>
                </a:rPr>
                <a:t>machine learning model</a:t>
              </a:r>
              <a:r>
                <a:rPr lang="en-US" dirty="0">
                  <a:latin typeface="Aptos Narrow" panose="020B0004020202020204" pitchFamily="34" charset="0"/>
                </a:rPr>
                <a:t> that predicts whether a person has heart disease based on medical attributes such as: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B613D1-455A-B7F8-E7CA-621E3C95A83A}"/>
                </a:ext>
              </a:extLst>
            </p:cNvPr>
            <p:cNvSpPr txBox="1"/>
            <p:nvPr/>
          </p:nvSpPr>
          <p:spPr>
            <a:xfrm>
              <a:off x="3867912" y="3417242"/>
              <a:ext cx="3136392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742950" lvl="1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600" dirty="0">
                  <a:latin typeface="Arial" panose="020B0604020202020204" pitchFamily="34" charset="0"/>
                </a:rPr>
                <a:t>Age</a:t>
              </a:r>
            </a:p>
            <a:p>
              <a:pPr marL="742950" lvl="1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600" dirty="0">
                  <a:latin typeface="Arial" panose="020B0604020202020204" pitchFamily="34" charset="0"/>
                </a:rPr>
                <a:t>Gender</a:t>
              </a:r>
            </a:p>
            <a:p>
              <a:pPr marL="742950" lvl="1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600" dirty="0">
                  <a:latin typeface="Arial" panose="020B0604020202020204" pitchFamily="34" charset="0"/>
                </a:rPr>
                <a:t>Cholesterol level</a:t>
              </a:r>
            </a:p>
            <a:p>
              <a:pPr marL="742950" lvl="1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600" dirty="0">
                  <a:latin typeface="Arial" panose="020B0604020202020204" pitchFamily="34" charset="0"/>
                </a:rPr>
                <a:t>Blood pressure</a:t>
              </a:r>
            </a:p>
            <a:p>
              <a:pPr marL="742950" lvl="1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600" dirty="0">
                  <a:latin typeface="Arial" panose="020B0604020202020204" pitchFamily="34" charset="0"/>
                </a:rPr>
                <a:t>BMI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B9042C6-FB77-1362-857C-114B8D69BC1F}"/>
                </a:ext>
              </a:extLst>
            </p:cNvPr>
            <p:cNvSpPr txBox="1"/>
            <p:nvPr/>
          </p:nvSpPr>
          <p:spPr>
            <a:xfrm>
              <a:off x="6814947" y="3440758"/>
              <a:ext cx="3453384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742950" lvl="1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600" dirty="0">
                  <a:latin typeface="Arial" panose="020B0604020202020204" pitchFamily="34" charset="0"/>
                </a:rPr>
                <a:t>Diabetes</a:t>
              </a:r>
            </a:p>
            <a:p>
              <a:pPr marL="742950" lvl="1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600" dirty="0">
                  <a:latin typeface="Arial" panose="020B0604020202020204" pitchFamily="34" charset="0"/>
                </a:rPr>
                <a:t>Smoking habits</a:t>
              </a:r>
            </a:p>
            <a:p>
              <a:pPr marL="742950" lvl="1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600" dirty="0">
                  <a:latin typeface="Arial" panose="020B0604020202020204" pitchFamily="34" charset="0"/>
                </a:rPr>
                <a:t>Heart rate</a:t>
              </a:r>
            </a:p>
            <a:p>
              <a:pPr marL="742950" lvl="1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600" dirty="0">
                  <a:latin typeface="Arial" panose="020B0604020202020204" pitchFamily="34" charset="0"/>
                </a:rPr>
                <a:t>Glucose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0ACDF6E-A0FD-CEC1-CBB5-A01037CB345F}"/>
                </a:ext>
              </a:extLst>
            </p:cNvPr>
            <p:cNvSpPr txBox="1"/>
            <p:nvPr/>
          </p:nvSpPr>
          <p:spPr>
            <a:xfrm>
              <a:off x="3412236" y="2374201"/>
              <a:ext cx="6149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1"/>
                  </a:solidFill>
                  <a:latin typeface="Aptos Narrow" panose="020B0004020202020204" pitchFamily="34" charset="0"/>
                </a:rPr>
                <a:t>Objective of the Project :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CE2E64E-1AD5-D855-53CA-9ED9D46E0CCF}"/>
              </a:ext>
            </a:extLst>
          </p:cNvPr>
          <p:cNvGrpSpPr/>
          <p:nvPr/>
        </p:nvGrpSpPr>
        <p:grpSpPr>
          <a:xfrm>
            <a:off x="3110484" y="4683188"/>
            <a:ext cx="7290815" cy="1356148"/>
            <a:chOff x="3215640" y="4564316"/>
            <a:chExt cx="7290815" cy="1356148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7B47C6A-8E19-4761-3A81-5E2CBF7A9AA5}"/>
                </a:ext>
              </a:extLst>
            </p:cNvPr>
            <p:cNvSpPr txBox="1"/>
            <p:nvPr/>
          </p:nvSpPr>
          <p:spPr>
            <a:xfrm>
              <a:off x="3215640" y="4564316"/>
              <a:ext cx="6044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defTabSz="914400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accent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 Narrow" panose="020B0004020202020204" pitchFamily="34" charset="0"/>
                </a:rPr>
                <a:t>Why this problem is important :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F9FDB54-9E8E-09AC-0C33-0A77A9C1090A}"/>
                </a:ext>
              </a:extLst>
            </p:cNvPr>
            <p:cNvSpPr txBox="1"/>
            <p:nvPr/>
          </p:nvSpPr>
          <p:spPr>
            <a:xfrm>
              <a:off x="4573142" y="4997134"/>
              <a:ext cx="59333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dirty="0">
                  <a:latin typeface="Aptos Narrow" panose="020B0004020202020204" pitchFamily="34" charset="0"/>
                </a:rPr>
                <a:t>Helps in early medical diagnosis</a:t>
              </a:r>
            </a:p>
            <a:p>
              <a:pPr marL="285750" lvl="0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dirty="0">
                  <a:latin typeface="Aptos Narrow" panose="020B0004020202020204" pitchFamily="34" charset="0"/>
                </a:rPr>
                <a:t>Supports doctors in decision-making</a:t>
              </a:r>
            </a:p>
            <a:p>
              <a:pPr marL="285750" lvl="0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dirty="0">
                  <a:latin typeface="Aptos Narrow" panose="020B0004020202020204" pitchFamily="34" charset="0"/>
                </a:rPr>
                <a:t>Improves patient monitoring &amp; awareness</a:t>
              </a:r>
            </a:p>
          </p:txBody>
        </p:sp>
      </p:grpSp>
      <p:sp>
        <p:nvSpPr>
          <p:cNvPr id="14" name="Rectangle 2">
            <a:extLst>
              <a:ext uri="{FF2B5EF4-FFF2-40B4-BE49-F238E27FC236}">
                <a16:creationId xmlns:a16="http://schemas.microsoft.com/office/drawing/2014/main" id="{9BC44FA7-D881-9184-2DC4-BAA78BA5C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3075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7A087-4277-9220-4820-8AE26E580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309616-FBB7-8A7D-27A2-37EACD91E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6438" y="1545336"/>
            <a:ext cx="10467882" cy="4175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8F87E2-2BD6-3CE7-73D1-4A5326D1C3B6}"/>
              </a:ext>
            </a:extLst>
          </p:cNvPr>
          <p:cNvSpPr txBox="1"/>
          <p:nvPr/>
        </p:nvSpPr>
        <p:spPr>
          <a:xfrm>
            <a:off x="-64008" y="552781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2854754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5BA898C-6CCB-A7BA-C6A7-0A2F81E8BA83}"/>
              </a:ext>
            </a:extLst>
          </p:cNvPr>
          <p:cNvSpPr txBox="1"/>
          <p:nvPr/>
        </p:nvSpPr>
        <p:spPr>
          <a:xfrm>
            <a:off x="2703576" y="304587"/>
            <a:ext cx="67848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Data Preprocessing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B2C66-BB46-A631-5C3D-47B7B0109926}"/>
              </a:ext>
            </a:extLst>
          </p:cNvPr>
          <p:cNvSpPr txBox="1"/>
          <p:nvPr/>
        </p:nvSpPr>
        <p:spPr>
          <a:xfrm>
            <a:off x="1211580" y="730639"/>
            <a:ext cx="37490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ptos Narrow" panose="020B0004020202020204" pitchFamily="34" charset="0"/>
              </a:rPr>
              <a:t>Steps Performed 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5B6893A-8798-53C8-E04A-D44A15BD0E09}"/>
              </a:ext>
            </a:extLst>
          </p:cNvPr>
          <p:cNvGrpSpPr/>
          <p:nvPr/>
        </p:nvGrpSpPr>
        <p:grpSpPr>
          <a:xfrm>
            <a:off x="3159252" y="1253859"/>
            <a:ext cx="3364992" cy="1614440"/>
            <a:chOff x="3557016" y="1728217"/>
            <a:chExt cx="3145536" cy="1353311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7F97BC9-D017-7928-DBA3-E1523760B7C6}"/>
                </a:ext>
              </a:extLst>
            </p:cNvPr>
            <p:cNvSpPr/>
            <p:nvPr/>
          </p:nvSpPr>
          <p:spPr>
            <a:xfrm>
              <a:off x="3557016" y="1728217"/>
              <a:ext cx="3145536" cy="1353311"/>
            </a:xfrm>
            <a:prstGeom prst="round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E7069EF-05F0-4C1E-3D06-CD0601151FE7}"/>
                </a:ext>
              </a:extLst>
            </p:cNvPr>
            <p:cNvSpPr txBox="1"/>
            <p:nvPr/>
          </p:nvSpPr>
          <p:spPr>
            <a:xfrm>
              <a:off x="4014216" y="2189882"/>
              <a:ext cx="26883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Imported dataset using </a:t>
              </a:r>
              <a:r>
                <a:rPr lang="en-US" sz="1400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Pandas </a:t>
              </a:r>
              <a:r>
                <a:rPr lang="en-US" sz="1400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Checked shape, columns, missing values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676CB56-EC9D-A5F0-9DF6-DBF5E1D02993}"/>
                </a:ext>
              </a:extLst>
            </p:cNvPr>
            <p:cNvSpPr txBox="1"/>
            <p:nvPr/>
          </p:nvSpPr>
          <p:spPr>
            <a:xfrm>
              <a:off x="3685032" y="1851328"/>
              <a:ext cx="23134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1. Loaded Dataset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C921EBB-742F-D372-7FAC-D89C34F9514A}"/>
              </a:ext>
            </a:extLst>
          </p:cNvPr>
          <p:cNvGrpSpPr/>
          <p:nvPr/>
        </p:nvGrpSpPr>
        <p:grpSpPr>
          <a:xfrm>
            <a:off x="7013342" y="1258694"/>
            <a:ext cx="3364992" cy="1614440"/>
            <a:chOff x="3557016" y="1728217"/>
            <a:chExt cx="3364992" cy="161444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D5CBE0F8-0F50-43E9-9D1C-BA623633293E}"/>
                </a:ext>
              </a:extLst>
            </p:cNvPr>
            <p:cNvSpPr/>
            <p:nvPr/>
          </p:nvSpPr>
          <p:spPr>
            <a:xfrm>
              <a:off x="3557016" y="1728217"/>
              <a:ext cx="3364992" cy="1614440"/>
            </a:xfrm>
            <a:prstGeom prst="roundRect">
              <a:avLst/>
            </a:prstGeom>
            <a:solidFill>
              <a:srgbClr val="00B050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72C24D2-0A24-31A1-D2DC-2E0D0E892FA6}"/>
                </a:ext>
              </a:extLst>
            </p:cNvPr>
            <p:cNvSpPr txBox="1"/>
            <p:nvPr/>
          </p:nvSpPr>
          <p:spPr>
            <a:xfrm>
              <a:off x="3922776" y="2025921"/>
              <a:ext cx="2907792" cy="11079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lvl="0" indent="-1714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100" b="1" dirty="0">
                  <a:solidFill>
                    <a:schemeClr val="bg1"/>
                  </a:solidFill>
                  <a:latin typeface="Arial" panose="020B0604020202020204" pitchFamily="34" charset="0"/>
                </a:rPr>
                <a:t>Removed unnecessary column like </a:t>
              </a:r>
              <a:r>
                <a:rPr lang="en-US" altLang="en-US" sz="1100" b="1" dirty="0">
                  <a:solidFill>
                    <a:schemeClr val="bg1"/>
                  </a:solidFill>
                  <a:latin typeface="Arial Unicode MS"/>
                </a:rPr>
                <a:t>education</a:t>
              </a:r>
              <a:endParaRPr lang="en-US" altLang="en-US" sz="1100" b="1" dirty="0">
                <a:solidFill>
                  <a:schemeClr val="bg1"/>
                </a:solidFill>
              </a:endParaRPr>
            </a:p>
            <a:p>
              <a:pPr marL="171450" lvl="0" indent="-1714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100" b="1" dirty="0">
                  <a:solidFill>
                    <a:schemeClr val="bg1"/>
                  </a:solidFill>
                  <a:latin typeface="Arial" panose="020B0604020202020204" pitchFamily="34" charset="0"/>
                </a:rPr>
                <a:t>Detected missing values in </a:t>
              </a:r>
              <a:r>
                <a:rPr lang="en-US" altLang="en-US" sz="1100" b="1" dirty="0" err="1">
                  <a:solidFill>
                    <a:schemeClr val="bg1"/>
                  </a:solidFill>
                  <a:latin typeface="Arial Unicode MS"/>
                </a:rPr>
                <a:t>smokingStatus</a:t>
              </a:r>
              <a:endParaRPr lang="en-US" altLang="en-US" sz="1100" b="1" dirty="0">
                <a:solidFill>
                  <a:schemeClr val="bg1"/>
                </a:solidFill>
              </a:endParaRPr>
            </a:p>
            <a:p>
              <a:pPr marL="171450" lvl="0" indent="-1714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100" b="1" dirty="0">
                  <a:solidFill>
                    <a:schemeClr val="bg1"/>
                  </a:solidFill>
                  <a:latin typeface="Arial" panose="020B0604020202020204" pitchFamily="34" charset="0"/>
                </a:rPr>
                <a:t>Replaced invalid entries (</a:t>
              </a:r>
              <a:r>
                <a:rPr lang="en-US" altLang="en-US" sz="1100" b="1" dirty="0">
                  <a:solidFill>
                    <a:schemeClr val="bg1"/>
                  </a:solidFill>
                  <a:latin typeface="Arial Unicode MS"/>
                </a:rPr>
                <a:t>-1</a:t>
              </a:r>
              <a:r>
                <a:rPr lang="en-US" altLang="en-US" sz="1100" b="1" dirty="0">
                  <a:solidFill>
                    <a:schemeClr val="bg1"/>
                  </a:solidFill>
                </a:rPr>
                <a:t>) with </a:t>
              </a:r>
              <a:r>
                <a:rPr lang="en-US" altLang="en-US" sz="1100" b="1" dirty="0" err="1">
                  <a:solidFill>
                    <a:schemeClr val="bg1"/>
                  </a:solidFill>
                </a:rPr>
                <a:t>NaN</a:t>
              </a:r>
              <a:endParaRPr lang="en-US" altLang="en-US" sz="1100" b="1" dirty="0">
                <a:solidFill>
                  <a:schemeClr val="bg1"/>
                </a:solidFill>
                <a:latin typeface="Arial" panose="020B0604020202020204" pitchFamily="34" charset="0"/>
              </a:endParaRPr>
            </a:p>
            <a:p>
              <a:pPr marL="171450" lvl="0" indent="-1714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sz="1100" b="1" dirty="0">
                  <a:solidFill>
                    <a:schemeClr val="bg1"/>
                  </a:solidFill>
                  <a:latin typeface="Arial" panose="020B0604020202020204" pitchFamily="34" charset="0"/>
                </a:rPr>
                <a:t>Dropped remaining missing rows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96482EB-E0AB-09BA-102B-9FCECE0E89AB}"/>
                </a:ext>
              </a:extLst>
            </p:cNvPr>
            <p:cNvSpPr txBox="1"/>
            <p:nvPr/>
          </p:nvSpPr>
          <p:spPr>
            <a:xfrm>
              <a:off x="3685032" y="1789773"/>
              <a:ext cx="23134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2. Cleaned Data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E871C12-3ECB-0F30-4A92-331017C3C56C}"/>
              </a:ext>
            </a:extLst>
          </p:cNvPr>
          <p:cNvGrpSpPr/>
          <p:nvPr/>
        </p:nvGrpSpPr>
        <p:grpSpPr>
          <a:xfrm>
            <a:off x="5086297" y="3040051"/>
            <a:ext cx="3364992" cy="1614440"/>
            <a:chOff x="3557016" y="1728217"/>
            <a:chExt cx="3364992" cy="1614440"/>
          </a:xfrm>
          <a:solidFill>
            <a:schemeClr val="bg2">
              <a:lumMod val="75000"/>
            </a:schemeClr>
          </a:solidFill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416D94A-46EC-3DBC-E39E-9B0265D7CC97}"/>
                </a:ext>
              </a:extLst>
            </p:cNvPr>
            <p:cNvSpPr/>
            <p:nvPr/>
          </p:nvSpPr>
          <p:spPr>
            <a:xfrm>
              <a:off x="3557016" y="1728217"/>
              <a:ext cx="3364992" cy="1614440"/>
            </a:xfrm>
            <a:prstGeom prst="roundRect">
              <a:avLst/>
            </a:prstGeom>
            <a:grp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388FBB5-DD12-076A-ADEF-F0FB53491D79}"/>
                </a:ext>
              </a:extLst>
            </p:cNvPr>
            <p:cNvSpPr txBox="1"/>
            <p:nvPr/>
          </p:nvSpPr>
          <p:spPr>
            <a:xfrm>
              <a:off x="3922776" y="2025921"/>
              <a:ext cx="2907792" cy="121571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Converted categories to numbers using </a:t>
              </a:r>
              <a:r>
                <a:rPr lang="en-US" sz="1200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.</a:t>
              </a:r>
              <a:r>
                <a:rPr lang="en-US" sz="1200" b="1" dirty="0" err="1">
                  <a:solidFill>
                    <a:schemeClr val="bg1"/>
                  </a:solidFill>
                  <a:latin typeface="Aptos Narrow" panose="020B0004020202020204" pitchFamily="34" charset="0"/>
                </a:rPr>
                <a:t>cat.codes</a:t>
              </a:r>
              <a:r>
                <a:rPr lang="en-US" sz="1200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Gender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Smoking Status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Diabetes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Heart Disease (Target)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DF4EDE4-9B14-AD80-8D5E-C4DA417B3056}"/>
                </a:ext>
              </a:extLst>
            </p:cNvPr>
            <p:cNvSpPr txBox="1"/>
            <p:nvPr/>
          </p:nvSpPr>
          <p:spPr>
            <a:xfrm>
              <a:off x="3685032" y="1789773"/>
              <a:ext cx="2907792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3. Encoded Categorical Columns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0159554-EA99-82FC-2BE8-1270170FD486}"/>
              </a:ext>
            </a:extLst>
          </p:cNvPr>
          <p:cNvGrpSpPr/>
          <p:nvPr/>
        </p:nvGrpSpPr>
        <p:grpSpPr>
          <a:xfrm>
            <a:off x="3159252" y="4877793"/>
            <a:ext cx="3364992" cy="1614439"/>
            <a:chOff x="3557016" y="1728217"/>
            <a:chExt cx="3145536" cy="1353311"/>
          </a:xfrm>
          <a:solidFill>
            <a:srgbClr val="0070C0"/>
          </a:solidFill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C7C976C4-4CC7-033C-1BCA-D9C7691985D8}"/>
                </a:ext>
              </a:extLst>
            </p:cNvPr>
            <p:cNvSpPr/>
            <p:nvPr/>
          </p:nvSpPr>
          <p:spPr>
            <a:xfrm>
              <a:off x="3557016" y="1728217"/>
              <a:ext cx="3145536" cy="1353311"/>
            </a:xfrm>
            <a:prstGeom prst="roundRect">
              <a:avLst/>
            </a:prstGeom>
            <a:grp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A3EC3B7-A4EF-A426-0F95-26D033A5DA42}"/>
                </a:ext>
              </a:extLst>
            </p:cNvPr>
            <p:cNvSpPr txBox="1"/>
            <p:nvPr/>
          </p:nvSpPr>
          <p:spPr>
            <a:xfrm>
              <a:off x="3907593" y="2189882"/>
              <a:ext cx="2688336" cy="73866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Not required for Logistic Regression, but can improve convergence.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F68CA33-C9A8-ABA0-DC31-37E20BBA2859}"/>
                </a:ext>
              </a:extLst>
            </p:cNvPr>
            <p:cNvSpPr txBox="1"/>
            <p:nvPr/>
          </p:nvSpPr>
          <p:spPr>
            <a:xfrm>
              <a:off x="3685032" y="1851328"/>
              <a:ext cx="2808732" cy="33855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4. Feature Scaling (Optional)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EC8A935-D7E6-236D-3A85-2D2522085D70}"/>
              </a:ext>
            </a:extLst>
          </p:cNvPr>
          <p:cNvGrpSpPr/>
          <p:nvPr/>
        </p:nvGrpSpPr>
        <p:grpSpPr>
          <a:xfrm>
            <a:off x="7159646" y="4900182"/>
            <a:ext cx="3666850" cy="1614439"/>
            <a:chOff x="3557016" y="1728217"/>
            <a:chExt cx="3570732" cy="1614440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76AA2322-7131-49C7-9016-49FBB4205268}"/>
                </a:ext>
              </a:extLst>
            </p:cNvPr>
            <p:cNvSpPr/>
            <p:nvPr/>
          </p:nvSpPr>
          <p:spPr>
            <a:xfrm>
              <a:off x="3557016" y="1728217"/>
              <a:ext cx="3364992" cy="1614440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021E84-50B5-F327-B8CA-8AADB9A0E825}"/>
                </a:ext>
              </a:extLst>
            </p:cNvPr>
            <p:cNvSpPr txBox="1"/>
            <p:nvPr/>
          </p:nvSpPr>
          <p:spPr>
            <a:xfrm>
              <a:off x="4219956" y="2189883"/>
              <a:ext cx="290779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80% training data</a:t>
              </a:r>
              <a:br>
                <a:rPr lang="en-US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</a:br>
              <a:r>
                <a:rPr lang="en-US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20% testing data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B82881-2009-2B2F-AAB7-F5EDFC0DC33B}"/>
                </a:ext>
              </a:extLst>
            </p:cNvPr>
            <p:cNvSpPr txBox="1"/>
            <p:nvPr/>
          </p:nvSpPr>
          <p:spPr>
            <a:xfrm>
              <a:off x="3685032" y="1789773"/>
              <a:ext cx="231343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Aptos Narrow" panose="020B0004020202020204" pitchFamily="34" charset="0"/>
                </a:rPr>
                <a:t>5. Train-Test Split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77269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23BB5-98D6-7105-9964-07F4BEA77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F50C7F-EDC7-64AF-646E-1D3ED306EF5D}"/>
              </a:ext>
            </a:extLst>
          </p:cNvPr>
          <p:cNvSpPr txBox="1"/>
          <p:nvPr/>
        </p:nvSpPr>
        <p:spPr>
          <a:xfrm>
            <a:off x="2322576" y="438251"/>
            <a:ext cx="67848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MODEL CREATION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AD99A8-F150-469B-3B36-94A8C5942A6E}"/>
              </a:ext>
            </a:extLst>
          </p:cNvPr>
          <p:cNvSpPr txBox="1"/>
          <p:nvPr/>
        </p:nvSpPr>
        <p:spPr>
          <a:xfrm>
            <a:off x="1335024" y="1216151"/>
            <a:ext cx="507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Logistic Regression Model :</a:t>
            </a:r>
            <a:endParaRPr lang="en-US" sz="28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 Narrow" panose="020B0004020202020204" pitchFamily="34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80F192B-E0CC-F26D-89CB-E2ED8910B121}"/>
              </a:ext>
            </a:extLst>
          </p:cNvPr>
          <p:cNvGrpSpPr/>
          <p:nvPr/>
        </p:nvGrpSpPr>
        <p:grpSpPr>
          <a:xfrm>
            <a:off x="1724452" y="1917601"/>
            <a:ext cx="7498733" cy="3548036"/>
            <a:chOff x="1449324" y="1776271"/>
            <a:chExt cx="7498733" cy="3548036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94F7531-79BE-3ADF-A834-DEADBD37336D}"/>
                </a:ext>
              </a:extLst>
            </p:cNvPr>
            <p:cNvSpPr txBox="1"/>
            <p:nvPr/>
          </p:nvSpPr>
          <p:spPr>
            <a:xfrm>
              <a:off x="2007885" y="1776271"/>
              <a:ext cx="50749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accent1"/>
                  </a:solidFill>
                  <a:latin typeface="Aptos Narrow" panose="020B0004020202020204" pitchFamily="34" charset="0"/>
                </a:rPr>
                <a:t>Why </a:t>
              </a:r>
              <a:r>
                <a:rPr lang="en-US" sz="2400" b="1" dirty="0">
                  <a:solidFill>
                    <a:schemeClr val="accent1"/>
                  </a:solidFill>
                  <a:latin typeface="Aptos Narrow" panose="020B0004020202020204" pitchFamily="34" charset="0"/>
                </a:rPr>
                <a:t>Logistic</a:t>
              </a:r>
              <a:r>
                <a:rPr lang="en-US" sz="2000" b="1" dirty="0">
                  <a:solidFill>
                    <a:schemeClr val="accent1"/>
                  </a:solidFill>
                  <a:latin typeface="Aptos Narrow" panose="020B0004020202020204" pitchFamily="34" charset="0"/>
                </a:rPr>
                <a:t> </a:t>
              </a:r>
              <a:r>
                <a:rPr lang="en-US" sz="2400" b="1" dirty="0">
                  <a:solidFill>
                    <a:schemeClr val="accent1"/>
                  </a:solidFill>
                  <a:latin typeface="Aptos Narrow" panose="020B0004020202020204" pitchFamily="34" charset="0"/>
                </a:rPr>
                <a:t>Regression</a:t>
              </a:r>
              <a:r>
                <a:rPr lang="en-US" sz="2000" b="1" dirty="0">
                  <a:solidFill>
                    <a:schemeClr val="accent1"/>
                  </a:solidFill>
                  <a:latin typeface="Aptos Narrow" panose="020B0004020202020204" pitchFamily="34" charset="0"/>
                </a:rPr>
                <a:t>?</a:t>
              </a:r>
              <a:endParaRPr lang="en-US" sz="20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A88DBD-D7D3-5716-C2F7-E4D8F28757AE}"/>
                </a:ext>
              </a:extLst>
            </p:cNvPr>
            <p:cNvSpPr txBox="1"/>
            <p:nvPr/>
          </p:nvSpPr>
          <p:spPr>
            <a:xfrm>
              <a:off x="4133088" y="2185084"/>
              <a:ext cx="478231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dirty="0">
                  <a:latin typeface="Aptos Narrow" panose="020B0004020202020204" pitchFamily="34" charset="0"/>
                </a:rPr>
                <a:t>Works well for classification (yes/no)</a:t>
              </a:r>
            </a:p>
            <a:p>
              <a:pPr marL="285750" lvl="0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dirty="0">
                  <a:latin typeface="Aptos Narrow" panose="020B0004020202020204" pitchFamily="34" charset="0"/>
                </a:rPr>
                <a:t>Simple, interpretable, fast</a:t>
              </a:r>
            </a:p>
            <a:p>
              <a:pPr marL="285750" lvl="0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dirty="0">
                  <a:latin typeface="Aptos Narrow" panose="020B0004020202020204" pitchFamily="34" charset="0"/>
                </a:rPr>
                <a:t>Best for medical prediction problems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6E1E569-1C61-F987-AE01-C439B8974F99}"/>
                </a:ext>
              </a:extLst>
            </p:cNvPr>
            <p:cNvSpPr txBox="1"/>
            <p:nvPr/>
          </p:nvSpPr>
          <p:spPr>
            <a:xfrm>
              <a:off x="1449324" y="3084217"/>
              <a:ext cx="50749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accent1"/>
                  </a:solidFill>
                  <a:latin typeface="Aptos Narrow" panose="020B0004020202020204" pitchFamily="34" charset="0"/>
                </a:rPr>
                <a:t>Steps :</a:t>
              </a:r>
              <a:endParaRPr lang="en-US" sz="2000" b="1" dirty="0">
                <a:solidFill>
                  <a:schemeClr val="accent1"/>
                </a:solidFill>
                <a:latin typeface="Aptos Narrow" panose="020B0004020202020204" pitchFamily="34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F6D8D23-548D-0271-7C86-095D52F6744E}"/>
                </a:ext>
              </a:extLst>
            </p:cNvPr>
            <p:cNvSpPr txBox="1"/>
            <p:nvPr/>
          </p:nvSpPr>
          <p:spPr>
            <a:xfrm>
              <a:off x="4165745" y="3574433"/>
              <a:ext cx="47823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fr-FR" altLang="en-US" b="1" dirty="0">
                  <a:latin typeface="Aptos Narrow" panose="020B0004020202020204" pitchFamily="34" charset="0"/>
                </a:rPr>
                <a:t>model = </a:t>
              </a:r>
              <a:r>
                <a:rPr lang="fr-FR" altLang="en-US" b="1" dirty="0" err="1">
                  <a:latin typeface="Aptos Narrow" panose="020B0004020202020204" pitchFamily="34" charset="0"/>
                </a:rPr>
                <a:t>LogisticRegression</a:t>
              </a:r>
              <a:r>
                <a:rPr lang="fr-FR" altLang="en-US" b="1" dirty="0">
                  <a:latin typeface="Aptos Narrow" panose="020B0004020202020204" pitchFamily="34" charset="0"/>
                </a:rPr>
                <a:t>()</a:t>
              </a:r>
            </a:p>
            <a:p>
              <a:pPr marL="285750" lvl="0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fr-FR" altLang="en-US" b="1" dirty="0" err="1">
                  <a:latin typeface="Aptos Narrow" panose="020B0004020202020204" pitchFamily="34" charset="0"/>
                </a:rPr>
                <a:t>model.fit</a:t>
              </a:r>
              <a:r>
                <a:rPr lang="fr-FR" altLang="en-US" b="1" dirty="0">
                  <a:latin typeface="Aptos Narrow" panose="020B0004020202020204" pitchFamily="34" charset="0"/>
                </a:rPr>
                <a:t>(</a:t>
              </a:r>
              <a:r>
                <a:rPr lang="fr-FR" altLang="en-US" b="1" dirty="0" err="1">
                  <a:latin typeface="Aptos Narrow" panose="020B0004020202020204" pitchFamily="34" charset="0"/>
                </a:rPr>
                <a:t>X_train</a:t>
              </a:r>
              <a:r>
                <a:rPr lang="fr-FR" altLang="en-US" b="1" dirty="0">
                  <a:latin typeface="Aptos Narrow" panose="020B0004020202020204" pitchFamily="34" charset="0"/>
                </a:rPr>
                <a:t>, </a:t>
              </a:r>
              <a:r>
                <a:rPr lang="fr-FR" altLang="en-US" b="1" dirty="0" err="1">
                  <a:latin typeface="Aptos Narrow" panose="020B0004020202020204" pitchFamily="34" charset="0"/>
                </a:rPr>
                <a:t>y_train</a:t>
              </a:r>
              <a:r>
                <a:rPr lang="fr-FR" altLang="en-US" b="1" dirty="0">
                  <a:latin typeface="Aptos Narrow" panose="020B0004020202020204" pitchFamily="34" charset="0"/>
                </a:rPr>
                <a:t>)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4C88B6-94DB-0128-BF80-F4B0C52C9B2D}"/>
                </a:ext>
              </a:extLst>
            </p:cNvPr>
            <p:cNvSpPr txBox="1"/>
            <p:nvPr/>
          </p:nvSpPr>
          <p:spPr>
            <a:xfrm>
              <a:off x="1595628" y="4249315"/>
              <a:ext cx="507492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accent1"/>
                  </a:solidFill>
                  <a:latin typeface="Aptos Narrow" panose="020B0004020202020204" pitchFamily="34" charset="0"/>
                </a:rPr>
                <a:t>Model Evaluation :</a:t>
              </a:r>
              <a:endParaRPr lang="en-US" b="1" dirty="0">
                <a:solidFill>
                  <a:schemeClr val="accent1"/>
                </a:solidFill>
                <a:latin typeface="Aptos Narrow" panose="020B0004020202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B4EF3D9-2C51-C514-BEB1-99661DB1A6D7}"/>
                </a:ext>
              </a:extLst>
            </p:cNvPr>
            <p:cNvSpPr txBox="1"/>
            <p:nvPr/>
          </p:nvSpPr>
          <p:spPr>
            <a:xfrm>
              <a:off x="4165745" y="4677976"/>
              <a:ext cx="47823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lvl="0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b="1" dirty="0">
                  <a:latin typeface="Aptos Narrow" panose="020B0004020202020204" pitchFamily="34" charset="0"/>
                </a:rPr>
                <a:t>Predictions were made on test data</a:t>
              </a:r>
            </a:p>
            <a:p>
              <a:pPr marL="285750" lvl="0" indent="-285750" defTabSz="914400" eaLnBrk="0" fontAlgn="base" hangingPunct="0">
                <a:spcBef>
                  <a:spcPct val="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altLang="en-US" b="1" dirty="0">
                  <a:latin typeface="Aptos Narrow" panose="020B0004020202020204" pitchFamily="34" charset="0"/>
                </a:rPr>
                <a:t>Calculated accuracy score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5B5097A-F732-70DB-B8B5-4C02AD5AC3C9}"/>
              </a:ext>
            </a:extLst>
          </p:cNvPr>
          <p:cNvGrpSpPr/>
          <p:nvPr/>
        </p:nvGrpSpPr>
        <p:grpSpPr>
          <a:xfrm>
            <a:off x="1853821" y="5721376"/>
            <a:ext cx="8484357" cy="584775"/>
            <a:chOff x="1595628" y="5519909"/>
            <a:chExt cx="8484357" cy="584775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CDF0657-D6A7-B0CF-8234-03E4BD7EC68B}"/>
                </a:ext>
              </a:extLst>
            </p:cNvPr>
            <p:cNvSpPr txBox="1"/>
            <p:nvPr/>
          </p:nvSpPr>
          <p:spPr>
            <a:xfrm>
              <a:off x="1595628" y="5519909"/>
              <a:ext cx="50749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accent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 Narrow" panose="020B0004020202020204" pitchFamily="34" charset="0"/>
                </a:rPr>
                <a:t>Final Accuracy</a:t>
              </a:r>
              <a:endParaRPr lang="en-US" sz="24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506E2C-2A53-C320-D4A3-68606FAB8FC7}"/>
                </a:ext>
              </a:extLst>
            </p:cNvPr>
            <p:cNvSpPr txBox="1"/>
            <p:nvPr/>
          </p:nvSpPr>
          <p:spPr>
            <a:xfrm>
              <a:off x="5005065" y="5519909"/>
              <a:ext cx="507492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Aptos Narrow" panose="020B0004020202020204" pitchFamily="34" charset="0"/>
                </a:rPr>
                <a:t>85.13%</a:t>
              </a:r>
              <a:endParaRPr lang="en-US" sz="28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745B53A-592A-6644-AC4F-29F4024FB95B}"/>
                </a:ext>
              </a:extLst>
            </p:cNvPr>
            <p:cNvCxnSpPr>
              <a:cxnSpLocks/>
            </p:cNvCxnSpPr>
            <p:nvPr/>
          </p:nvCxnSpPr>
          <p:spPr>
            <a:xfrm>
              <a:off x="5523536" y="5787389"/>
              <a:ext cx="11470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0578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0E385DA-24AA-F43D-B681-DD105EEF7887}"/>
              </a:ext>
            </a:extLst>
          </p:cNvPr>
          <p:cNvSpPr txBox="1"/>
          <p:nvPr/>
        </p:nvSpPr>
        <p:spPr>
          <a:xfrm>
            <a:off x="3694176" y="621792"/>
            <a:ext cx="4297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GRAPHICAL 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61730F-6822-8100-F93D-82C684EB3DBD}"/>
              </a:ext>
            </a:extLst>
          </p:cNvPr>
          <p:cNvSpPr txBox="1"/>
          <p:nvPr/>
        </p:nvSpPr>
        <p:spPr>
          <a:xfrm>
            <a:off x="1673352" y="1972056"/>
            <a:ext cx="42976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1. Age Vs Heart Disease</a:t>
            </a:r>
            <a:endParaRPr lang="en-US" sz="20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 Narrow" panose="020B00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59E4DD1-EB04-4678-838A-56CD4583AE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31"/>
          <a:stretch>
            <a:fillRect/>
          </a:stretch>
        </p:blipFill>
        <p:spPr>
          <a:xfrm>
            <a:off x="7836408" y="1145012"/>
            <a:ext cx="3267254" cy="222563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3A2E4AE-F3BF-8B2F-F1FD-4DA88F0B7E5E}"/>
              </a:ext>
            </a:extLst>
          </p:cNvPr>
          <p:cNvCxnSpPr/>
          <p:nvPr/>
        </p:nvCxnSpPr>
        <p:spPr>
          <a:xfrm>
            <a:off x="5550408" y="2202888"/>
            <a:ext cx="14904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5BB904-ED91-414C-FD5B-58BC5CBCC716}"/>
              </a:ext>
            </a:extLst>
          </p:cNvPr>
          <p:cNvSpPr txBox="1"/>
          <p:nvPr/>
        </p:nvSpPr>
        <p:spPr>
          <a:xfrm>
            <a:off x="1482852" y="4414319"/>
            <a:ext cx="5434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2.</a:t>
            </a:r>
            <a:r>
              <a:rPr lang="en-US" sz="2000" dirty="0"/>
              <a:t> </a:t>
            </a:r>
            <a:r>
              <a:rPr lang="en-US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BMI Distribution Vs Heart Disease</a:t>
            </a:r>
            <a:endParaRPr lang="en-US" sz="2000" b="1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ptos Narrow" panose="020B00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694E9DD-0D84-D6A9-5813-273481D35532}"/>
              </a:ext>
            </a:extLst>
          </p:cNvPr>
          <p:cNvCxnSpPr>
            <a:cxnSpLocks/>
          </p:cNvCxnSpPr>
          <p:nvPr/>
        </p:nvCxnSpPr>
        <p:spPr>
          <a:xfrm>
            <a:off x="6291072" y="4645152"/>
            <a:ext cx="154533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64C0534-4736-FB1C-EF21-1781306D0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1857" y="3990867"/>
            <a:ext cx="2916936" cy="217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198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E449B-B10D-7E17-09E7-47EB14AA0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80B8A78-F338-C7FE-0F46-D6013219140B}"/>
              </a:ext>
            </a:extLst>
          </p:cNvPr>
          <p:cNvSpPr txBox="1"/>
          <p:nvPr/>
        </p:nvSpPr>
        <p:spPr>
          <a:xfrm>
            <a:off x="3694177" y="210559"/>
            <a:ext cx="4297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GRAPHICAL ANALYSIS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A0450A-CB64-9D55-FABD-85FC89A08989}"/>
              </a:ext>
            </a:extLst>
          </p:cNvPr>
          <p:cNvSpPr txBox="1"/>
          <p:nvPr/>
        </p:nvSpPr>
        <p:spPr>
          <a:xfrm>
            <a:off x="3767328" y="1321444"/>
            <a:ext cx="4297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Aptos Narrow" panose="020B0004020202020204" pitchFamily="34" charset="0"/>
              </a:rPr>
              <a:t>3.Heart Disease Probability by Total Cholesterol Range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8BF6313-C989-3BF2-4017-29F2C5A9C4BA}"/>
              </a:ext>
            </a:extLst>
          </p:cNvPr>
          <p:cNvCxnSpPr>
            <a:cxnSpLocks/>
          </p:cNvCxnSpPr>
          <p:nvPr/>
        </p:nvCxnSpPr>
        <p:spPr>
          <a:xfrm>
            <a:off x="5989320" y="2074872"/>
            <a:ext cx="0" cy="640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BCB4A334-8239-6DA2-98D4-44E605907A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16"/>
          <a:stretch>
            <a:fillRect/>
          </a:stretch>
        </p:blipFill>
        <p:spPr>
          <a:xfrm>
            <a:off x="4437892" y="2905869"/>
            <a:ext cx="3553965" cy="3326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393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243E2-596A-C360-E971-EE9A0609F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E9AC48-B8A7-856E-73F6-F36DEF2F360E}"/>
              </a:ext>
            </a:extLst>
          </p:cNvPr>
          <p:cNvSpPr txBox="1"/>
          <p:nvPr/>
        </p:nvSpPr>
        <p:spPr>
          <a:xfrm>
            <a:off x="3602737" y="457447"/>
            <a:ext cx="4297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GRAPHICAL ANALYSIS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95CFCCD-BC4A-DC07-5A6A-84AE8EDCC498}"/>
              </a:ext>
            </a:extLst>
          </p:cNvPr>
          <p:cNvGrpSpPr/>
          <p:nvPr/>
        </p:nvGrpSpPr>
        <p:grpSpPr>
          <a:xfrm>
            <a:off x="2441448" y="1298449"/>
            <a:ext cx="8931484" cy="4094680"/>
            <a:chOff x="2871216" y="923544"/>
            <a:chExt cx="8931484" cy="405469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0C24DB8-C32A-4BAF-6007-A50251B9ED20}"/>
                </a:ext>
              </a:extLst>
            </p:cNvPr>
            <p:cNvSpPr txBox="1"/>
            <p:nvPr/>
          </p:nvSpPr>
          <p:spPr>
            <a:xfrm>
              <a:off x="3026664" y="1419714"/>
              <a:ext cx="429768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Aptos Narrow" panose="020B0004020202020204" pitchFamily="34" charset="0"/>
                </a:rPr>
                <a:t>4.Systolic BP vs Heart Disease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DFA4E8A-2153-FE22-0DE6-0812E28E6B31}"/>
                </a:ext>
              </a:extLst>
            </p:cNvPr>
            <p:cNvCxnSpPr>
              <a:cxnSpLocks/>
            </p:cNvCxnSpPr>
            <p:nvPr/>
          </p:nvCxnSpPr>
          <p:spPr>
            <a:xfrm>
              <a:off x="6601968" y="1619769"/>
              <a:ext cx="113385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830FCD0-9993-0450-30CC-134586CEC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76440" y="923544"/>
              <a:ext cx="3926260" cy="242750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DC8E52F-7F8D-C9D0-9AC7-0BB04F952A06}"/>
                </a:ext>
              </a:extLst>
            </p:cNvPr>
            <p:cNvSpPr txBox="1"/>
            <p:nvPr/>
          </p:nvSpPr>
          <p:spPr>
            <a:xfrm>
              <a:off x="2871216" y="4582040"/>
              <a:ext cx="4297680" cy="3962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sz="2000" b="1" dirty="0">
                <a:latin typeface="Aptos Narrow" panose="020B0004020202020204" pitchFamily="34" charset="0"/>
              </a:endParaRP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1708660A-E440-31F5-451E-ABF16A0BEE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945"/>
          <a:stretch>
            <a:fillRect/>
          </a:stretch>
        </p:blipFill>
        <p:spPr>
          <a:xfrm>
            <a:off x="8232812" y="4067672"/>
            <a:ext cx="2724583" cy="2595256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2DC5A3-B07F-4228-013B-5289A97EEF19}"/>
              </a:ext>
            </a:extLst>
          </p:cNvPr>
          <p:cNvCxnSpPr/>
          <p:nvPr/>
        </p:nvCxnSpPr>
        <p:spPr>
          <a:xfrm>
            <a:off x="6336792" y="5431535"/>
            <a:ext cx="15636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F09AF00-CCC0-61CB-2D25-6A90265276D3}"/>
              </a:ext>
            </a:extLst>
          </p:cNvPr>
          <p:cNvSpPr txBox="1"/>
          <p:nvPr/>
        </p:nvSpPr>
        <p:spPr>
          <a:xfrm>
            <a:off x="2596896" y="5193074"/>
            <a:ext cx="35753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Aptos Narrow" panose="020B0004020202020204" pitchFamily="34" charset="0"/>
              </a:rPr>
              <a:t>5. Heart Disease Probability by Cigarettes per Day</a:t>
            </a:r>
          </a:p>
        </p:txBody>
      </p:sp>
    </p:spTree>
    <p:extLst>
      <p:ext uri="{BB962C8B-B14F-4D97-AF65-F5344CB8AC3E}">
        <p14:creationId xmlns:p14="http://schemas.microsoft.com/office/powerpoint/2010/main" val="900467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BFACC29-9D87-2A23-EBA0-54973FFAD74A}"/>
              </a:ext>
            </a:extLst>
          </p:cNvPr>
          <p:cNvSpPr txBox="1"/>
          <p:nvPr/>
        </p:nvSpPr>
        <p:spPr>
          <a:xfrm>
            <a:off x="4180332" y="462951"/>
            <a:ext cx="38313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CONCLUSION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7E2B2A-81D7-12E4-6F6A-FC763A0D2634}"/>
              </a:ext>
            </a:extLst>
          </p:cNvPr>
          <p:cNvSpPr txBox="1"/>
          <p:nvPr/>
        </p:nvSpPr>
        <p:spPr>
          <a:xfrm>
            <a:off x="2135204" y="1316736"/>
            <a:ext cx="939907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Logistic Regression performed well with an 85% accuracy, making it a reliable baseline model.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Important factors contributing to heart disease include: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High systolic blood pressure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High cholesterol levels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Higher BMI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Smoking habits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Age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Data preprocessing had a major impact on improving model performance.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Visual analysis confirms the relationships between health parameters and heart disease.</a:t>
            </a:r>
          </a:p>
          <a:p>
            <a:pPr marL="285750" lvl="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This model can be further improved using: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Feature scaling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Hyperparameter tuning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b="1" dirty="0">
                <a:latin typeface="Aptos Narrow" panose="020B0004020202020204" pitchFamily="34" charset="0"/>
              </a:rPr>
              <a:t>Other ML models like Random Forest or </a:t>
            </a:r>
            <a:r>
              <a:rPr lang="en-US" altLang="en-US" b="1" dirty="0" err="1">
                <a:latin typeface="Aptos Narrow" panose="020B0004020202020204" pitchFamily="34" charset="0"/>
              </a:rPr>
              <a:t>XGBoost</a:t>
            </a:r>
            <a:endParaRPr lang="en-US" altLang="en-US" b="1" dirty="0">
              <a:latin typeface="Aptos Narrow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A681F4-A269-04F1-CA51-1ADA5A6103D1}"/>
              </a:ext>
            </a:extLst>
          </p:cNvPr>
          <p:cNvSpPr txBox="1"/>
          <p:nvPr/>
        </p:nvSpPr>
        <p:spPr>
          <a:xfrm>
            <a:off x="2862072" y="5379386"/>
            <a:ext cx="74706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This project provides a strong foundation for medical diagnosis using machine learning and highlights the potential of data-driven healthcare.</a:t>
            </a:r>
          </a:p>
        </p:txBody>
      </p:sp>
    </p:spTree>
    <p:extLst>
      <p:ext uri="{BB962C8B-B14F-4D97-AF65-F5344CB8AC3E}">
        <p14:creationId xmlns:p14="http://schemas.microsoft.com/office/powerpoint/2010/main" val="2675078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648BED6-C420-E8C7-13F9-AA85D5F41A58}"/>
              </a:ext>
            </a:extLst>
          </p:cNvPr>
          <p:cNvSpPr txBox="1"/>
          <p:nvPr/>
        </p:nvSpPr>
        <p:spPr>
          <a:xfrm>
            <a:off x="3465576" y="2697480"/>
            <a:ext cx="591616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00" b="1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 Narrow" panose="020B0004020202020204" pitchFamily="34" charset="0"/>
              </a:rPr>
              <a:t>THANK YOU…..</a:t>
            </a:r>
          </a:p>
        </p:txBody>
      </p:sp>
    </p:spTree>
    <p:extLst>
      <p:ext uri="{BB962C8B-B14F-4D97-AF65-F5344CB8AC3E}">
        <p14:creationId xmlns:p14="http://schemas.microsoft.com/office/powerpoint/2010/main" val="2733364815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Red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TM02892315[[fn=Wisp]]</Template>
  <TotalTime>126</TotalTime>
  <Words>406</Words>
  <Application>Microsoft Office PowerPoint</Application>
  <PresentationFormat>Widescreen</PresentationFormat>
  <Paragraphs>77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Aptos Display</vt:lpstr>
      <vt:lpstr>Aptos Narrow</vt:lpstr>
      <vt:lpstr>Arial</vt:lpstr>
      <vt:lpstr>Arial Black</vt:lpstr>
      <vt:lpstr>Arial Rounded MT Bold</vt:lpstr>
      <vt:lpstr>Arial Unicode MS</vt:lpstr>
      <vt:lpstr>Century Gothic</vt:lpstr>
      <vt:lpstr>Wingdings</vt:lpstr>
      <vt:lpstr>Wingdings 3</vt:lpstr>
      <vt:lpstr>Wisp</vt:lpstr>
      <vt:lpstr>Heart Disease Prediction Using Logistic Regression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ASISH BOSE</dc:creator>
  <cp:lastModifiedBy>ASISH BOSE</cp:lastModifiedBy>
  <cp:revision>1</cp:revision>
  <dcterms:created xsi:type="dcterms:W3CDTF">2025-11-14T16:17:44Z</dcterms:created>
  <dcterms:modified xsi:type="dcterms:W3CDTF">2025-11-14T18:24:26Z</dcterms:modified>
</cp:coreProperties>
</file>